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work: this is a from-scratch replication of the RAID 2020 paper on recovering robotic vehicles from sensor attacks using software sensors. Emphasize up front that the goal is to reproduce the paper's PROCEDURE faithfully, not to claim identical numbers. State the platform and that evidence figures are produced from recorded flight data and the identified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problem. Sensors are safety-critical. Attackers can manipulate them physically. Detection alone is insufficient — you also need to keep flying. Hardware redundancy is expensive and defeated by same-type multi-sensor attacks. This motivates a software-based recovery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core idea in plain terms: a physics/model-based 'virtual sensor' that predicts what each real sensor should read. Under normal operation the two agree; under attack they diverge, and the system swaps in the trustworthy software value. This is what makes recovery (not just detection)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roadmap. The paper has an offline modeling pipeline and a runtime monitor. We reproduced both. Tell the audience the slides will walk this exact pipeline in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scope honestly: one simulated quadrotor, the toolchain used, and that the monitor itself is unit-tested. Flag the single intentional deviation (50 Hz vs 400 Hz) now so it isn't a surprise later, and preview that live validation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data step. The paper needs varied maneuvers so the model captures the vehicle dynamics. We generated random missions and resampled with splines, exactly as the paper specifies. The figure shows the diversity of one mission.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model step. State the two governing equations (point at them). We fit a 12-state model with per-axis second-order blocks via PEM, with K=0 so it matches the open-loop predictor the runtime uses. Be honest that roll/pitch fit well but the translational/yaw models are weaker because the training data was hover-dominant.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software-sensor step. We implemented every conversion equation from the paper. The figure shows predicted vs real for four sensor types. Point out the tight tracking on baro/gyro/mag, and honestly note the GPS drift due to the weaker translational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method. Walk through Algorithm 1 at a high level and show the residual/threshold equation. Stress that our implementation is unit-tested line by line. The figure is an OFFLINE demonstration on a recorded trace: the attack drives the residual past T_on and the monitor swaps in the software sensor. Be explicit that this is offline, not a live flight.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correction is needed: an open-loop model inevitably drifts. The paper's answer is periodic synchronization plus error reset. The figure shows the accumulated error growing unbounded without it and staying bounded with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external-error compensation step. Wind pushes the vehicle so the real sensor differs from the model by a persistent offset; the e term absorbs it. The figure shows the error shrinking when compensation is on. Note the disturbance is injected offline (a simulated wind), consistent with the paper's evaluation approach.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 selection. The window comes from DTW; the threshold from the max clean residual plus a margin. The right figure reproduces the paper's FP/FN trade-off: a larger window gives more false positives and fewer false negatives, and at the chosen threshold both are about zero. State that FP/FN were measured offline by injecting attacks into recorded clean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Shows sensitivity vs attack strength. Small attacks stay under the threshold; once the bias is large enough the residual crosses T_on and detection is guaranteed. This mirrors the paper's attack-scale analysis. Again, offline injection on recorded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case in the paper: all gyros attacked at once. The software gyro has no real reference and drifts, so the paper adds accelerometer/magnetometer-based attitude reconstruction. The figure shows roll diverging without it and bounded with it. Demonstrated offline from the recorded IMU/compass log.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slide: every figure is produced by a named, read-only script from the recorded data and the identified model. No figure uses invented data. Mention the scripts live in rv_recovery/python/.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what matches the paper. Walk the checklist quickly: data, model, software sensors, correction, parameters, and the runtime monitor are all implemented to the paper's procedure. Point to the comparison checklist document for the full mapping.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fully transparent. The 50 Hz deviation is intentional and consistent. The translational models are weaker due to data coverage. Most importantly, explain why live numbers aren't shown: the SITL sensor path overwrites the substitution before the estimator sees it, affecting attack and recovery identically — a simulator-architecture issue, not a flaw in the method. Real hardware would behave like the paper. List the remaining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methodology is replicated end to end and demonstrated with figures that mirror the paper's. Restate the honest framing — procedure replication, not identical numbers — and that live validation is the main piece of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reference for questions: the governing equations, the conversion equations by number, and the meaning of every parameter (N, T_on, T_off, K, margin) plus the 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011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48840"/>
            <a:ext cx="11064240" cy="1737360"/>
          </a:xfrm>
          <a:prstGeom prst="rect">
            <a:avLst/>
          </a:prstGeom>
          <a:noFill/>
        </p:spPr>
        <p:txBody>
          <a:bodyPr wrap="square">
            <a:spAutoFit/>
          </a:bodyPr>
          <a:lstStyle/>
          <a:p>
            <a:r>
              <a:rPr sz="3000" b="1">
                <a:solidFill>
                  <a:srgbClr val="FFFFFF"/>
                </a:solidFill>
              </a:rPr>
              <a:t>Software-based Realtime Recovery from Sensor Attacks on Robotic Vehicles</a:t>
            </a:r>
          </a:p>
          <a:p>
            <a:r>
              <a:rPr sz="1800" i="1">
                <a:solidFill>
                  <a:srgbClr val="CFDEF0"/>
                </a:solidFill>
              </a:rPr>
              <a:t>A procedure-faithful replication of Choi et al., RAID 2020</a:t>
            </a:r>
          </a:p>
        </p:txBody>
      </p:sp>
      <p:sp>
        <p:nvSpPr>
          <p:cNvPr id="4" name="TextBox 3"/>
          <p:cNvSpPr txBox="1"/>
          <p:nvPr/>
        </p:nvSpPr>
        <p:spPr>
          <a:xfrm>
            <a:off x="548640" y="4297680"/>
            <a:ext cx="11064240" cy="1371600"/>
          </a:xfrm>
          <a:prstGeom prst="rect">
            <a:avLst/>
          </a:prstGeom>
          <a:noFill/>
        </p:spPr>
        <p:txBody>
          <a:bodyPr wrap="square">
            <a:spAutoFit/>
          </a:bodyPr>
          <a:lstStyle/>
          <a:p/>
          <a:p>
            <a:r>
              <a:rPr sz="1500">
                <a:solidFill>
                  <a:srgbClr val="555555"/>
                </a:solidFill>
              </a:rPr>
              <a:t>Focus: replication of the methodology and procedure — identical numerical results are not claimed.</a:t>
            </a:r>
          </a:p>
          <a:p>
            <a:r>
              <a:rPr sz="1300">
                <a:solidFill>
                  <a:srgbClr val="555555"/>
                </a:solidFill>
              </a:rPr>
              <a:t>Platform: ArduCopter 3.4 SITL · MATLAB R2026a · Python · C/C++ firmware patch</a:t>
            </a:r>
          </a:p>
          <a:p>
            <a:r>
              <a:rPr sz="1300">
                <a:solidFill>
                  <a:srgbClr val="555555"/>
                </a:solidFill>
              </a:rPr>
              <a:t>Presented by: [Your name]   ·   Course: [Course]   ·   Date: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Motivation: the sensor-attack recovery problem</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sz="1600">
                <a:solidFill>
                  <a:srgbClr val="2E6DA4"/>
                </a:solidFill>
              </a:rPr>
              <a:t>•  </a:t>
            </a:r>
            <a:r>
              <a:rPr sz="1600">
                <a:solidFill>
                  <a:srgbClr val="202020"/>
                </a:solidFill>
              </a:rPr>
              <a:t>Robotic vehicles (drones, rovers) continuously act on sensor measurements (gyroscope, accelerometer, GPS, barometer, magnetometer).</a:t>
            </a:r>
          </a:p>
          <a:p>
            <a:pPr>
              <a:spcAft>
                <a:spcPts val="700"/>
              </a:spcAft>
            </a:pPr>
            <a:r>
              <a:rPr sz="1600">
                <a:solidFill>
                  <a:srgbClr val="2E6DA4"/>
                </a:solidFill>
              </a:rPr>
              <a:t>•  </a:t>
            </a:r>
            <a:r>
              <a:rPr sz="1600">
                <a:solidFill>
                  <a:srgbClr val="202020"/>
                </a:solidFill>
              </a:rPr>
              <a:t>Physical / external attacks corrupt these readings — e.g. GPS spoofing, acoustic gyroscope injection — and can crash the vehicle.</a:t>
            </a:r>
          </a:p>
          <a:p>
            <a:pPr>
              <a:spcAft>
                <a:spcPts val="700"/>
              </a:spcAft>
            </a:pPr>
            <a:r>
              <a:rPr sz="1600">
                <a:solidFill>
                  <a:srgbClr val="2E6DA4"/>
                </a:solidFill>
              </a:rPr>
              <a:t>•  </a:t>
            </a:r>
            <a:r>
              <a:rPr sz="1600">
                <a:solidFill>
                  <a:srgbClr val="202020"/>
                </a:solidFill>
              </a:rPr>
              <a:t>Prior defenses mostly DETECT attacks but do not RECOVER: the vehicle can still crash after detection.</a:t>
            </a:r>
          </a:p>
          <a:p>
            <a:pPr>
              <a:spcAft>
                <a:spcPts val="700"/>
              </a:spcAft>
            </a:pPr>
            <a:r>
              <a:rPr sz="1600">
                <a:solidFill>
                  <a:srgbClr val="2E6DA4"/>
                </a:solidFill>
              </a:rPr>
              <a:t>•  </a:t>
            </a:r>
            <a:r>
              <a:rPr sz="1600">
                <a:solidFill>
                  <a:srgbClr val="202020"/>
                </a:solidFill>
              </a:rPr>
              <a:t>Hardware redundancy (triple-modular) is costly and still fails when multiple same-type sensors are attacked together.</a:t>
            </a:r>
          </a:p>
          <a:p>
            <a:pPr>
              <a:spcAft>
                <a:spcPts val="700"/>
              </a:spcAft>
            </a:pPr>
            <a:r>
              <a:rPr sz="1600">
                <a:solidFill>
                  <a:srgbClr val="2E6DA4"/>
                </a:solidFill>
              </a:rPr>
              <a:t>•  </a:t>
            </a:r>
            <a:r>
              <a:rPr sz="1600">
                <a:solidFill>
                  <a:srgbClr val="202020"/>
                </a:solidFill>
              </a:rPr>
              <a:t>Need: a software-only, real-time method that keeps the vehicle stable DURING an attack.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The paper's software-sensor idea</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build a predictive state-space model of the vehicle that captures the controller, actuators, and dynamics.</a:t>
            </a:r>
          </a:p>
          <a:p>
            <a:pPr>
              <a:spcAft>
                <a:spcPts val="700"/>
              </a:spcAft>
            </a:pPr>
            <a:r>
              <a:rPr b="1" sz="1600">
                <a:solidFill>
                  <a:srgbClr val="2E6DA4"/>
                </a:solidFill>
              </a:rPr>
              <a:t>Paper:  </a:t>
            </a:r>
            <a:r>
              <a:rPr sz="1600">
                <a:solidFill>
                  <a:srgbClr val="202020"/>
                </a:solidFill>
              </a:rPr>
              <a:t>a "software sensor" converts model outputs into the predicted reading of each physical sensor — a software backup running alongside the real sensor.</a:t>
            </a:r>
          </a:p>
          <a:p>
            <a:pPr>
              <a:spcAft>
                <a:spcPts val="700"/>
              </a:spcAft>
            </a:pPr>
            <a:r>
              <a:rPr b="1" sz="1600">
                <a:solidFill>
                  <a:srgbClr val="2E6DA4"/>
                </a:solidFill>
              </a:rPr>
              <a:t>Paper:  </a:t>
            </a:r>
            <a:r>
              <a:rPr sz="1600">
                <a:solidFill>
                  <a:srgbClr val="202020"/>
                </a:solidFill>
              </a:rPr>
              <a:t>at runtime, compare software-sensor vs real-sensor; a large, sustained difference indicates the physical sensor is under attack.</a:t>
            </a:r>
          </a:p>
          <a:p>
            <a:pPr>
              <a:spcAft>
                <a:spcPts val="700"/>
              </a:spcAft>
            </a:pPr>
            <a:r>
              <a:rPr b="1" sz="1600">
                <a:solidFill>
                  <a:srgbClr val="2E6DA4"/>
                </a:solidFill>
              </a:rPr>
              <a:t>Paper:  </a:t>
            </a:r>
            <a:r>
              <a:rPr sz="1600">
                <a:solidFill>
                  <a:srgbClr val="202020"/>
                </a:solidFill>
              </a:rPr>
              <a:t>replace the compromised reading with the software-sensor value to keep the control loop stable (single, multiple, or all-same-type sensor attacks).</a:t>
            </a:r>
          </a:p>
          <a:p>
            <a:pPr>
              <a:spcAft>
                <a:spcPts val="700"/>
              </a:spcAft>
            </a:pPr>
            <a:r>
              <a:rPr b="1" sz="1600">
                <a:solidFill>
                  <a:srgbClr val="B76E00"/>
                </a:solidFill>
              </a:rPr>
              <a:t>Note:  </a:t>
            </a:r>
            <a:r>
              <a:rPr sz="1600">
                <a:solidFill>
                  <a:srgbClr val="202020"/>
                </a:solidFill>
              </a:rPr>
              <a:t>software sensors are model-based, so they are immune to physical-environment attacks.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Paper workflow we replicated</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(offline): collect operation data → resample → system identification → build software sensors → select recovery parameters.</a:t>
            </a:r>
          </a:p>
          <a:p>
            <a:pPr>
              <a:spcAft>
                <a:spcPts val="700"/>
              </a:spcAft>
            </a:pPr>
            <a:r>
              <a:rPr b="1" sz="1600">
                <a:solidFill>
                  <a:srgbClr val="2E6DA4"/>
                </a:solidFill>
              </a:rPr>
              <a:t>Paper:  </a:t>
            </a:r>
            <a:r>
              <a:rPr sz="1600">
                <a:solidFill>
                  <a:srgbClr val="202020"/>
                </a:solidFill>
              </a:rPr>
              <a:t>(runtime): insert the recovery monitor (Algorithm 1) right after sensor acquisition in the control loop.</a:t>
            </a:r>
          </a:p>
          <a:p>
            <a:pPr>
              <a:spcAft>
                <a:spcPts val="700"/>
              </a:spcAft>
            </a:pPr>
            <a:r>
              <a:rPr b="1" sz="1600">
                <a:solidFill>
                  <a:srgbClr val="2E7D32"/>
                </a:solidFill>
              </a:rPr>
              <a:t>Ours:  </a:t>
            </a:r>
            <a:r>
              <a:rPr sz="1600">
                <a:solidFill>
                  <a:srgbClr val="202020"/>
                </a:solidFill>
              </a:rPr>
              <a:t>every offline stage implemented in Python + MATLAB; runtime monitor implemented in C/C++ and inserted at the paper’s Figure-3 location.</a:t>
            </a:r>
          </a:p>
          <a:p>
            <a:pPr>
              <a:spcAft>
                <a:spcPts val="700"/>
              </a:spcAft>
            </a:pPr>
            <a:r>
              <a:rPr sz="1600">
                <a:solidFill>
                  <a:srgbClr val="2E6DA4"/>
                </a:solidFill>
              </a:rPr>
              <a:t>•  </a:t>
            </a:r>
            <a:r>
              <a:rPr sz="1600">
                <a:solidFill>
                  <a:srgbClr val="202020"/>
                </a:solidFill>
              </a:rPr>
              <a:t>This deck follows the logical order: data → model → software-sensor prediction → correction → parameter selection → attack recovery → limitations.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Replication scope and environment</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b="1" sz="1600">
                <a:solidFill>
                  <a:srgbClr val="2E7D32"/>
                </a:solidFill>
              </a:rPr>
              <a:t>Ours:  </a:t>
            </a:r>
            <a:r>
              <a:rPr sz="1600">
                <a:solidFill>
                  <a:srgbClr val="202020"/>
                </a:solidFill>
              </a:rPr>
              <a:t>simulated quadrotor on ArduCopter 3.4 (SITL).</a:t>
            </a:r>
          </a:p>
          <a:p>
            <a:pPr>
              <a:spcAft>
                <a:spcPts val="700"/>
              </a:spcAft>
            </a:pPr>
            <a:r>
              <a:rPr b="1" sz="1600">
                <a:solidFill>
                  <a:srgbClr val="2E7D32"/>
                </a:solidFill>
              </a:rPr>
              <a:t>Ours:  </a:t>
            </a:r>
            <a:r>
              <a:rPr sz="1600">
                <a:solidFill>
                  <a:srgbClr val="202020"/>
                </a:solidFill>
              </a:rPr>
              <a:t>MATLAB R2026a (System Identification Toolbox); Python (pymavlink, scipy, dtaidistance, matplotlib); C/C++ firmware patch.</a:t>
            </a:r>
          </a:p>
          <a:p>
            <a:pPr>
              <a:spcAft>
                <a:spcPts val="700"/>
              </a:spcAft>
            </a:pPr>
            <a:r>
              <a:rPr b="1" sz="1600">
                <a:solidFill>
                  <a:srgbClr val="2E7D32"/>
                </a:solidFill>
              </a:rPr>
              <a:t>Ours:  </a:t>
            </a:r>
            <a:r>
              <a:rPr sz="1600">
                <a:solidFill>
                  <a:srgbClr val="202020"/>
                </a:solidFill>
              </a:rPr>
              <a:t>runtime monitor is a line-for-line implementation of Algorithm 1, verified by 25/25 unit tests.</a:t>
            </a:r>
          </a:p>
          <a:p>
            <a:pPr>
              <a:spcAft>
                <a:spcPts val="700"/>
              </a:spcAft>
            </a:pPr>
            <a:r>
              <a:rPr b="1" sz="1600">
                <a:solidFill>
                  <a:srgbClr val="B76E00"/>
                </a:solidFill>
              </a:rPr>
              <a:t>Note:  </a:t>
            </a:r>
            <a:r>
              <a:rPr sz="1600">
                <a:solidFill>
                  <a:srgbClr val="202020"/>
                </a:solidFill>
              </a:rPr>
              <a:t>(deviation): model and monitor run at 50 Hz instead of the paper’s 400 Hz, due to a RAM constraint — the only intentional deviation.</a:t>
            </a:r>
          </a:p>
          <a:p>
            <a:pPr>
              <a:spcAft>
                <a:spcPts val="700"/>
              </a:spcAft>
            </a:pPr>
            <a:r>
              <a:rPr b="1" sz="1600">
                <a:solidFill>
                  <a:srgbClr val="B76E00"/>
                </a:solidFill>
              </a:rPr>
              <a:t>Limitation:  </a:t>
            </a:r>
            <a:r>
              <a:rPr sz="1600">
                <a:solidFill>
                  <a:srgbClr val="202020"/>
                </a:solidFill>
              </a:rPr>
              <a:t>closed-loop in-flight attack/recovery validation is future work (see Limitations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Operation data used for system identification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collect normal-operation logs under many maneuvers via randomly generated MAVLink missions; resample streams to one rate with spline interpolation.</a:t>
            </a:r>
          </a:p>
          <a:p>
            <a:pPr>
              <a:spcAft>
                <a:spcPts val="700"/>
              </a:spcAft>
            </a:pPr>
            <a:r>
              <a:rPr b="1" sz="1600">
                <a:solidFill>
                  <a:srgbClr val="2E7D32"/>
                </a:solidFill>
              </a:rPr>
              <a:t>Ours:  </a:t>
            </a:r>
            <a:r>
              <a:rPr sz="1600">
                <a:solidFill>
                  <a:srgbClr val="202020"/>
                </a:solidFill>
              </a:rPr>
              <a:t>20 random GUIDED missions (straight / turn / climb / hover); cubic-spline resampled per flight segment to 50 Hz — 21 segments, ~41 minutes.</a:t>
            </a:r>
          </a:p>
          <a:p>
            <a:pPr>
              <a:spcAft>
                <a:spcPts val="700"/>
              </a:spcAft>
            </a:pPr>
            <a:r>
              <a:rPr b="1" sz="1600">
                <a:solidFill>
                  <a:srgbClr val="2E7D32"/>
                </a:solidFill>
              </a:rPr>
              <a:t>Ours:  </a:t>
            </a:r>
            <a:r>
              <a:rPr sz="1600">
                <a:solidFill>
                  <a:srgbClr val="202020"/>
                </a:solidFill>
              </a:rPr>
              <a:t>state x, input u (target states), output y built per Eq. (3); raw units, no detrending (consistent with runtime).</a:t>
            </a:r>
          </a:p>
          <a:p>
            <a:pPr>
              <a:spcAft>
                <a:spcPts val="700"/>
              </a:spcAft>
            </a:pPr>
            <a:r>
              <a:rPr b="1" sz="1600">
                <a:solidFill>
                  <a:srgbClr val="1F3A5F"/>
                </a:solidFill>
              </a:rPr>
              <a:t>Figure:  </a:t>
            </a:r>
            <a:r>
              <a:rPr sz="1600">
                <a:solidFill>
                  <a:srgbClr val="202020"/>
                </a:solidFill>
              </a:rPr>
              <a:t>one mission across diverse maneuvers (attitude, position, velocity, body rates).</a:t>
            </a:r>
          </a:p>
        </p:txBody>
      </p:sp>
      <p:pic>
        <p:nvPicPr>
          <p:cNvPr id="5" name="Picture 4" descr="fig8_operation_data_overview.png"/>
          <p:cNvPicPr>
            <a:picLocks noChangeAspect="1"/>
          </p:cNvPicPr>
          <p:nvPr/>
        </p:nvPicPr>
        <p:blipFill>
          <a:blip r:embed="rId2"/>
          <a:stretch>
            <a:fillRect/>
          </a:stretch>
        </p:blipFill>
        <p:spPr>
          <a:xfrm>
            <a:off x="6853844" y="1417320"/>
            <a:ext cx="4488872"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State-space model and system identification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1828800"/>
          </a:xfrm>
          <a:prstGeom prst="rect">
            <a:avLst/>
          </a:prstGeom>
          <a:noFill/>
        </p:spPr>
        <p:txBody>
          <a:bodyPr wrap="square">
            <a:spAutoFit/>
          </a:bodyPr>
          <a:lstStyle/>
          <a:p>
            <a:pPr>
              <a:spcAft>
                <a:spcPts val="700"/>
              </a:spcAft>
            </a:pPr>
            <a:r>
              <a:rPr b="1" sz="1300">
                <a:solidFill>
                  <a:srgbClr val="2E6DA4"/>
                </a:solidFill>
              </a:rPr>
              <a:t>Paper:  </a:t>
            </a:r>
            <a:r>
              <a:rPr sz="1300">
                <a:solidFill>
                  <a:srgbClr val="202020"/>
                </a:solidFill>
              </a:rPr>
              <a:t>discrete state-space model; per-variable 2nd-order order; fit by prediction-error minimization (PEM).</a:t>
            </a:r>
          </a:p>
          <a:p>
            <a:pPr>
              <a:spcAft>
                <a:spcPts val="700"/>
              </a:spcAft>
            </a:pPr>
            <a:r>
              <a:rPr b="1" sz="1300">
                <a:solidFill>
                  <a:srgbClr val="555555"/>
                </a:solidFill>
              </a:rPr>
              <a:t>Eq.:  </a:t>
            </a:r>
            <a:r>
              <a:rPr sz="1300">
                <a:solidFill>
                  <a:srgbClr val="202020"/>
                </a:solidFill>
              </a:rPr>
              <a:t>xₖ₊₁ = A xₖ + B uₖ      yₖ = C xₖ + D uₖ</a:t>
            </a:r>
          </a:p>
          <a:p>
            <a:pPr>
              <a:spcAft>
                <a:spcPts val="700"/>
              </a:spcAft>
            </a:pPr>
            <a:r>
              <a:rPr b="1" sz="1300">
                <a:solidFill>
                  <a:srgbClr val="2E7D32"/>
                </a:solidFill>
              </a:rPr>
              <a:t>Ours:  </a:t>
            </a:r>
            <a:r>
              <a:rPr sz="1300">
                <a:solidFill>
                  <a:srgbClr val="202020"/>
                </a:solidFill>
              </a:rPr>
              <a:t>12-state model (Eq. 3); six per-axis 2nd-order PEM blocks; open-loop K = 0.</a:t>
            </a:r>
          </a:p>
          <a:p>
            <a:pPr>
              <a:spcAft>
                <a:spcPts val="700"/>
              </a:spcAft>
            </a:pPr>
            <a:r>
              <a:rPr b="1" sz="1300">
                <a:solidFill>
                  <a:srgbClr val="B76E00"/>
                </a:solidFill>
              </a:rPr>
              <a:t>Note:  </a:t>
            </a:r>
            <a:r>
              <a:rPr sz="1300">
                <a:solidFill>
                  <a:srgbClr val="202020"/>
                </a:solidFill>
              </a:rPr>
              <a:t>roll/pitch fit well; translational/yaw under-excited by hover-dominant data.</a:t>
            </a:r>
          </a:p>
        </p:txBody>
      </p:sp>
      <p:pic>
        <p:nvPicPr>
          <p:cNvPr id="5" name="Picture 4" descr="fig4_sysid_validation_fit.png"/>
          <p:cNvPicPr>
            <a:picLocks noChangeAspect="1"/>
          </p:cNvPicPr>
          <p:nvPr/>
        </p:nvPicPr>
        <p:blipFill>
          <a:blip r:embed="rId2"/>
          <a:stretch>
            <a:fillRect/>
          </a:stretch>
        </p:blipFill>
        <p:spPr>
          <a:xfrm>
            <a:off x="411480" y="3429000"/>
            <a:ext cx="5760720" cy="3200400"/>
          </a:xfrm>
          <a:prstGeom prst="rect">
            <a:avLst/>
          </a:prstGeom>
        </p:spPr>
      </p:pic>
      <p:pic>
        <p:nvPicPr>
          <p:cNvPr id="6" name="Picture 5" descr="fig5_model_eigenvalues.png"/>
          <p:cNvPicPr>
            <a:picLocks noChangeAspect="1"/>
          </p:cNvPicPr>
          <p:nvPr/>
        </p:nvPicPr>
        <p:blipFill>
          <a:blip r:embed="rId3"/>
          <a:stretch>
            <a:fillRect/>
          </a:stretch>
        </p:blipFill>
        <p:spPr>
          <a:xfrm>
            <a:off x="7452360" y="3429000"/>
            <a:ext cx="3200400" cy="3200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Software-sensor generation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(§3.2): convert model outputs to predicted sensor readings — gyroscope = rate states, accelerometer = Eq. (4), barometer = Eq. (5), magnetometer heading = Eq. (6), GPS = position/velocity states.</a:t>
            </a:r>
          </a:p>
          <a:p>
            <a:pPr>
              <a:spcAft>
                <a:spcPts val="700"/>
              </a:spcAft>
            </a:pPr>
            <a:r>
              <a:rPr b="1" sz="1600">
                <a:solidFill>
                  <a:srgbClr val="2E7D32"/>
                </a:solidFill>
              </a:rPr>
              <a:t>Ours:  </a:t>
            </a:r>
            <a:r>
              <a:rPr sz="1600">
                <a:solidFill>
                  <a:srgbClr val="202020"/>
                </a:solidFill>
              </a:rPr>
              <a:t>all conversion equations implemented in software_sensors.h, plus the Appendix-A frame transforms.</a:t>
            </a:r>
          </a:p>
          <a:p>
            <a:pPr>
              <a:spcAft>
                <a:spcPts val="700"/>
              </a:spcAft>
            </a:pPr>
            <a:r>
              <a:rPr b="1" sz="1600">
                <a:solidFill>
                  <a:srgbClr val="1F3A5F"/>
                </a:solidFill>
              </a:rPr>
              <a:t>Figure:  </a:t>
            </a:r>
            <a:r>
              <a:rPr sz="1600">
                <a:solidFill>
                  <a:srgbClr val="202020"/>
                </a:solidFill>
              </a:rPr>
              <a:t>software sensor (blue) vs real sensor (red) for GPS, barometer, gyroscope, magnetometer heading.</a:t>
            </a:r>
          </a:p>
          <a:p>
            <a:pPr>
              <a:spcAft>
                <a:spcPts val="700"/>
              </a:spcAft>
            </a:pPr>
            <a:r>
              <a:rPr b="1" sz="1600">
                <a:solidFill>
                  <a:srgbClr val="B76E00"/>
                </a:solidFill>
              </a:rPr>
              <a:t>Note:  </a:t>
            </a:r>
            <a:r>
              <a:rPr sz="1600">
                <a:solidFill>
                  <a:srgbClr val="202020"/>
                </a:solidFill>
              </a:rPr>
              <a:t>barometer / gyroscope / magnetometer track closely; GPS-North drifts — the documented under-excited translational model.</a:t>
            </a:r>
          </a:p>
        </p:txBody>
      </p:sp>
      <p:pic>
        <p:nvPicPr>
          <p:cNvPr id="5" name="Picture 4" descr="fig3_sensor_prediction.png"/>
          <p:cNvPicPr>
            <a:picLocks noChangeAspect="1"/>
          </p:cNvPicPr>
          <p:nvPr/>
        </p:nvPicPr>
        <p:blipFill>
          <a:blip r:embed="rId2"/>
          <a:stretch>
            <a:fillRect/>
          </a:stretch>
        </p:blipFill>
        <p:spPr>
          <a:xfrm>
            <a:off x="6217920" y="1965960"/>
            <a:ext cx="5760720" cy="3840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Recovery monitor — Algorithm 1</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(§3.4): each tick — predict y = Cx + Du, advance x = Ax + Bu, filter the real measurement, convert to software sensor, accumulate residual, detect, substitute.</a:t>
            </a:r>
          </a:p>
          <a:p>
            <a:pPr>
              <a:spcAft>
                <a:spcPts val="700"/>
              </a:spcAft>
            </a:pPr>
            <a:r>
              <a:rPr b="1" sz="1600">
                <a:solidFill>
                  <a:srgbClr val="555555"/>
                </a:solidFill>
              </a:rPr>
              <a:t>Eq.:  </a:t>
            </a:r>
            <a:r>
              <a:rPr sz="1600">
                <a:solidFill>
                  <a:srgbClr val="202020"/>
                </a:solidFill>
              </a:rPr>
              <a:t>rₖ = rₖ + |mₖ − msₖ|        Recovery when  r &gt; T_on  (switch back when r &lt; T_off for K counts).</a:t>
            </a:r>
          </a:p>
          <a:p>
            <a:pPr>
              <a:spcAft>
                <a:spcPts val="700"/>
              </a:spcAft>
            </a:pPr>
            <a:r>
              <a:rPr b="1" sz="1600">
                <a:solidFill>
                  <a:srgbClr val="2E7D32"/>
                </a:solidFill>
              </a:rPr>
              <a:t>Ours:  </a:t>
            </a:r>
            <a:r>
              <a:rPr sz="1600">
                <a:solidFill>
                  <a:srgbClr val="202020"/>
                </a:solidFill>
              </a:rPr>
              <a:t>line-for-line Algorithm 1 in recovery_monitor.h; 25/25 conformance tests pass.</a:t>
            </a:r>
          </a:p>
          <a:p>
            <a:pPr>
              <a:spcAft>
                <a:spcPts val="700"/>
              </a:spcAft>
            </a:pPr>
            <a:r>
              <a:rPr b="1" sz="1600">
                <a:solidFill>
                  <a:srgbClr val="1F3A5F"/>
                </a:solidFill>
              </a:rPr>
              <a:t>Figure:  </a:t>
            </a:r>
            <a:r>
              <a:rPr sz="1600">
                <a:solidFill>
                  <a:srgbClr val="202020"/>
                </a:solidFill>
              </a:rPr>
              <a:t>offline gyro attack — residual crosses T_on, monitor detects (~1.3 s) and substitutes the software sensor for the attacked reading.</a:t>
            </a:r>
          </a:p>
          <a:p>
            <a:pPr>
              <a:spcAft>
                <a:spcPts val="700"/>
              </a:spcAft>
            </a:pPr>
            <a:r>
              <a:rPr b="1" sz="1600">
                <a:solidFill>
                  <a:srgbClr val="B76E00"/>
                </a:solidFill>
              </a:rPr>
              <a:t>Note:  </a:t>
            </a:r>
            <a:r>
              <a:rPr sz="1600">
                <a:solidFill>
                  <a:srgbClr val="202020"/>
                </a:solidFill>
              </a:rPr>
              <a:t>attack injected offline into a recorded trace (supported by our scripts); closed-loop in-flight recovery is future work.</a:t>
            </a:r>
          </a:p>
        </p:txBody>
      </p:sp>
      <p:pic>
        <p:nvPicPr>
          <p:cNvPr id="5" name="Picture 4" descr="fig2_attack_recovery_gyro.png"/>
          <p:cNvPicPr>
            <a:picLocks noChangeAspect="1"/>
          </p:cNvPicPr>
          <p:nvPr/>
        </p:nvPicPr>
        <p:blipFill>
          <a:blip r:embed="rId2"/>
          <a:stretch>
            <a:fillRect/>
          </a:stretch>
        </p:blipFill>
        <p:spPr>
          <a:xfrm>
            <a:off x="6217920" y="1645920"/>
            <a:ext cx="5760720" cy="44805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Drift correction and synchronization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(§3.3): an open-loop model prediction drifts over time; periodically synchronize the predicted state with the real state and reset accumulated error.</a:t>
            </a:r>
          </a:p>
          <a:p>
            <a:pPr>
              <a:spcAft>
                <a:spcPts val="700"/>
              </a:spcAft>
            </a:pPr>
            <a:r>
              <a:rPr b="1" sz="1600">
                <a:solidFill>
                  <a:srgbClr val="2E7D32"/>
                </a:solidFill>
              </a:rPr>
              <a:t>Ours:  </a:t>
            </a:r>
            <a:r>
              <a:rPr sz="1600">
                <a:solidFill>
                  <a:srgbClr val="202020"/>
                </a:solidFill>
              </a:rPr>
              <a:t>at each window checkpoint, re-seed the model state from the real reading and reset the residual accumulator.</a:t>
            </a:r>
          </a:p>
          <a:p>
            <a:pPr>
              <a:spcAft>
                <a:spcPts val="700"/>
              </a:spcAft>
            </a:pPr>
            <a:r>
              <a:rPr b="1" sz="1600">
                <a:solidFill>
                  <a:srgbClr val="1F3A5F"/>
                </a:solidFill>
              </a:rPr>
              <a:t>Figure:  </a:t>
            </a:r>
            <a:r>
              <a:rPr sz="1600">
                <a:solidFill>
                  <a:srgbClr val="202020"/>
                </a:solidFill>
              </a:rPr>
              <a:t>accumulated prediction error grows without correction vs stays bounded with §3.3 synchronization.</a:t>
            </a:r>
          </a:p>
        </p:txBody>
      </p:sp>
      <p:pic>
        <p:nvPicPr>
          <p:cNvPr id="5" name="Picture 4" descr="fig12_roll_drift_correction.png"/>
          <p:cNvPicPr>
            <a:picLocks noChangeAspect="1"/>
          </p:cNvPicPr>
          <p:nvPr/>
        </p:nvPicPr>
        <p:blipFill>
          <a:blip r:embed="rId2"/>
          <a:stretch>
            <a:fillRect/>
          </a:stretch>
        </p:blipFill>
        <p:spPr>
          <a:xfrm>
            <a:off x="6217920" y="2113671"/>
            <a:ext cx="5760720" cy="354505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External disturbance / wind compensation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(§3.3): external forces (e.g. wind) cause a persistent prediction error; estimate the average error over the previous window (term e) and subtract it.</a:t>
            </a:r>
          </a:p>
          <a:p>
            <a:pPr>
              <a:spcAft>
                <a:spcPts val="700"/>
              </a:spcAft>
            </a:pPr>
            <a:r>
              <a:rPr b="1" sz="1600">
                <a:solidFill>
                  <a:srgbClr val="2E7D32"/>
                </a:solidFill>
              </a:rPr>
              <a:t>Ours:  </a:t>
            </a:r>
            <a:r>
              <a:rPr sz="1600">
                <a:solidFill>
                  <a:srgbClr val="202020"/>
                </a:solidFill>
              </a:rPr>
              <a:t>e = average(ms − m) over the previous window; corrected software sensor ms ← ms − e.</a:t>
            </a:r>
          </a:p>
          <a:p>
            <a:pPr>
              <a:spcAft>
                <a:spcPts val="700"/>
              </a:spcAft>
            </a:pPr>
            <a:r>
              <a:rPr b="1" sz="1600">
                <a:solidFill>
                  <a:srgbClr val="1F3A5F"/>
                </a:solidFill>
              </a:rPr>
              <a:t>Figure:  </a:t>
            </a:r>
            <a:r>
              <a:rPr sz="1600">
                <a:solidFill>
                  <a:srgbClr val="202020"/>
                </a:solidFill>
              </a:rPr>
              <a:t>prediction error WITH vs WITHOUT the disturbance term, under constant and dynamic wind (disturbance injected offline).</a:t>
            </a:r>
          </a:p>
          <a:p>
            <a:pPr>
              <a:spcAft>
                <a:spcPts val="700"/>
              </a:spcAft>
            </a:pPr>
            <a:r>
              <a:rPr b="1" sz="1600">
                <a:solidFill>
                  <a:srgbClr val="B76E00"/>
                </a:solidFill>
              </a:rPr>
              <a:t>Note:  </a:t>
            </a:r>
            <a:r>
              <a:rPr sz="1600">
                <a:solidFill>
                  <a:srgbClr val="202020"/>
                </a:solidFill>
              </a:rPr>
              <a:t>shown on a translational channel whose model is under-excited, so the trace is noisier than the paper’s.</a:t>
            </a:r>
          </a:p>
        </p:txBody>
      </p:sp>
      <p:pic>
        <p:nvPicPr>
          <p:cNvPr id="5" name="Picture 4" descr="fig13_external_wind_correction.png"/>
          <p:cNvPicPr>
            <a:picLocks noChangeAspect="1"/>
          </p:cNvPicPr>
          <p:nvPr/>
        </p:nvPicPr>
        <p:blipFill>
          <a:blip r:embed="rId2"/>
          <a:stretch>
            <a:fillRect/>
          </a:stretch>
        </p:blipFill>
        <p:spPr>
          <a:xfrm>
            <a:off x="6217920" y="2778369"/>
            <a:ext cx="5760720" cy="221566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Recovery parameter selection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1828800"/>
          </a:xfrm>
          <a:prstGeom prst="rect">
            <a:avLst/>
          </a:prstGeom>
          <a:noFill/>
        </p:spPr>
        <p:txBody>
          <a:bodyPr wrap="square">
            <a:spAutoFit/>
          </a:bodyPr>
          <a:lstStyle/>
          <a:p>
            <a:pPr>
              <a:spcAft>
                <a:spcPts val="700"/>
              </a:spcAft>
            </a:pPr>
            <a:r>
              <a:rPr b="1" sz="1300">
                <a:solidFill>
                  <a:srgbClr val="2E6DA4"/>
                </a:solidFill>
              </a:rPr>
              <a:t>Paper:  </a:t>
            </a:r>
            <a:r>
              <a:rPr sz="1300">
                <a:solidFill>
                  <a:srgbClr val="202020"/>
                </a:solidFill>
              </a:rPr>
              <a:t>(§3.3): window N = max DTW time-displacement on clean data; threshold T = e_max + margin, with T_off &lt; T_on.</a:t>
            </a:r>
          </a:p>
          <a:p>
            <a:pPr>
              <a:spcAft>
                <a:spcPts val="700"/>
              </a:spcAft>
            </a:pPr>
            <a:r>
              <a:rPr b="1" sz="1300">
                <a:solidFill>
                  <a:srgbClr val="2E7D32"/>
                </a:solidFill>
              </a:rPr>
              <a:t>Ours:  </a:t>
            </a:r>
            <a:r>
              <a:rPr sz="1300">
                <a:solidFill>
                  <a:srgbClr val="202020"/>
                </a:solidFill>
              </a:rPr>
              <a:t>DTW per channel (dtaidistance); per-channel N, T_on, T_off in recovery_params.h.</a:t>
            </a:r>
          </a:p>
          <a:p>
            <a:pPr>
              <a:spcAft>
                <a:spcPts val="700"/>
              </a:spcAft>
            </a:pPr>
            <a:r>
              <a:rPr b="1" sz="1300">
                <a:solidFill>
                  <a:srgbClr val="1F3A5F"/>
                </a:solidFill>
              </a:rPr>
              <a:t>Figure:  </a:t>
            </a:r>
            <a:r>
              <a:rPr sz="1300">
                <a:solidFill>
                  <a:srgbClr val="202020"/>
                </a:solidFill>
              </a:rPr>
              <a:t>selected N and thresholds (left); FP &amp; FN vs threshold across window sizes (right) — both ≈ 0 at the selected T_on.</a:t>
            </a:r>
          </a:p>
          <a:p>
            <a:pPr>
              <a:spcAft>
                <a:spcPts val="700"/>
              </a:spcAft>
            </a:pPr>
            <a:r>
              <a:rPr b="1" sz="1300">
                <a:solidFill>
                  <a:srgbClr val="B76E00"/>
                </a:solidFill>
              </a:rPr>
              <a:t>Note:  </a:t>
            </a:r>
            <a:r>
              <a:rPr sz="1300">
                <a:solidFill>
                  <a:srgbClr val="202020"/>
                </a:solidFill>
              </a:rPr>
              <a:t>FP/FN measured offline with in-memory attack injection (paper’s parameter study).</a:t>
            </a:r>
          </a:p>
        </p:txBody>
      </p:sp>
      <p:pic>
        <p:nvPicPr>
          <p:cNvPr id="5" name="Picture 4" descr="fig6_dtw_parameters.png"/>
          <p:cNvPicPr>
            <a:picLocks noChangeAspect="1"/>
          </p:cNvPicPr>
          <p:nvPr/>
        </p:nvPicPr>
        <p:blipFill>
          <a:blip r:embed="rId2"/>
          <a:stretch>
            <a:fillRect/>
          </a:stretch>
        </p:blipFill>
        <p:spPr>
          <a:xfrm>
            <a:off x="365760" y="3903785"/>
            <a:ext cx="5852160" cy="2250830"/>
          </a:xfrm>
          <a:prstGeom prst="rect">
            <a:avLst/>
          </a:prstGeom>
        </p:spPr>
      </p:pic>
      <p:pic>
        <p:nvPicPr>
          <p:cNvPr id="6" name="Picture 5" descr="fig14_param_selection_windows.png"/>
          <p:cNvPicPr>
            <a:picLocks noChangeAspect="1"/>
          </p:cNvPicPr>
          <p:nvPr/>
        </p:nvPicPr>
        <p:blipFill>
          <a:blip r:embed="rId3"/>
          <a:stretch>
            <a:fillRect/>
          </a:stretch>
        </p:blipFill>
        <p:spPr>
          <a:xfrm>
            <a:off x="6309360" y="3974123"/>
            <a:ext cx="5486400" cy="211015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Attack detection versus attack scale</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(§4.2.2): larger attacks produce larger errors; whether an attack is detected depends on its scale relative to the threshold.</a:t>
            </a:r>
          </a:p>
          <a:p>
            <a:pPr>
              <a:spcAft>
                <a:spcPts val="700"/>
              </a:spcAft>
            </a:pPr>
            <a:r>
              <a:rPr b="1" sz="1600">
                <a:solidFill>
                  <a:srgbClr val="2E7D32"/>
                </a:solidFill>
              </a:rPr>
              <a:t>Ours:  </a:t>
            </a:r>
            <a:r>
              <a:rPr sz="1600">
                <a:solidFill>
                  <a:srgbClr val="202020"/>
                </a:solidFill>
              </a:rPr>
              <a:t>sweep the injected constant gyro-bias magnitude; measure the peak accumulated residual per mission.</a:t>
            </a:r>
          </a:p>
          <a:p>
            <a:pPr>
              <a:spcAft>
                <a:spcPts val="700"/>
              </a:spcAft>
            </a:pPr>
            <a:r>
              <a:rPr b="1" sz="1600">
                <a:solidFill>
                  <a:srgbClr val="1F3A5F"/>
                </a:solidFill>
              </a:rPr>
              <a:t>Figure:  </a:t>
            </a:r>
            <a:r>
              <a:rPr sz="1600">
                <a:solidFill>
                  <a:srgbClr val="202020"/>
                </a:solidFill>
              </a:rPr>
              <a:t>peak residual rises ~linearly with attack scale and crosses T_on; all missions are detected for attacks ≥ ~0.3 rad/s.</a:t>
            </a:r>
          </a:p>
          <a:p>
            <a:pPr>
              <a:spcAft>
                <a:spcPts val="700"/>
              </a:spcAft>
            </a:pPr>
            <a:r>
              <a:rPr b="1" sz="1600">
                <a:solidFill>
                  <a:srgbClr val="B76E00"/>
                </a:solidFill>
              </a:rPr>
              <a:t>Note:  </a:t>
            </a:r>
            <a:r>
              <a:rPr sz="1600">
                <a:solidFill>
                  <a:srgbClr val="202020"/>
                </a:solidFill>
              </a:rPr>
              <a:t>attacks injected offline into recorded traces.</a:t>
            </a:r>
          </a:p>
        </p:txBody>
      </p:sp>
      <p:pic>
        <p:nvPicPr>
          <p:cNvPr id="5" name="Picture 4" descr="fig11_error_vs_attack_scale.png"/>
          <p:cNvPicPr>
            <a:picLocks noChangeAspect="1"/>
          </p:cNvPicPr>
          <p:nvPr/>
        </p:nvPicPr>
        <p:blipFill>
          <a:blip r:embed="rId2"/>
          <a:stretch>
            <a:fillRect/>
          </a:stretch>
        </p:blipFill>
        <p:spPr>
          <a:xfrm>
            <a:off x="6217920" y="2085975"/>
            <a:ext cx="5760720" cy="36004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All-gyroscope attack compensation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486400" cy="5029200"/>
          </a:xfrm>
          <a:prstGeom prst="rect">
            <a:avLst/>
          </a:prstGeom>
          <a:noFill/>
        </p:spPr>
        <p:txBody>
          <a:bodyPr wrap="square">
            <a:spAutoFit/>
          </a:bodyPr>
          <a:lstStyle/>
          <a:p>
            <a:pPr>
              <a:spcAft>
                <a:spcPts val="700"/>
              </a:spcAft>
            </a:pPr>
            <a:r>
              <a:rPr b="1" sz="1600">
                <a:solidFill>
                  <a:srgbClr val="2E6DA4"/>
                </a:solidFill>
              </a:rPr>
              <a:t>Paper:  </a:t>
            </a:r>
            <a:r>
              <a:rPr sz="1600">
                <a:solidFill>
                  <a:srgbClr val="202020"/>
                </a:solidFill>
              </a:rPr>
              <a:t>(Appendix B): when ALL gyroscopes are compromised, the software gyro alone drifts; reconstruct roll/pitch from the accelerometer and yaw from the magnetometer (Eq. 11) and combine by weighted sum.</a:t>
            </a:r>
          </a:p>
          <a:p>
            <a:pPr>
              <a:spcAft>
                <a:spcPts val="700"/>
              </a:spcAft>
            </a:pPr>
            <a:r>
              <a:rPr b="1" sz="1600">
                <a:solidFill>
                  <a:srgbClr val="2E7D32"/>
                </a:solidFill>
              </a:rPr>
              <a:t>Ours:  </a:t>
            </a:r>
            <a:r>
              <a:rPr sz="1600">
                <a:solidFill>
                  <a:srgbClr val="202020"/>
                </a:solidFill>
              </a:rPr>
              <a:t>supplementary_compensation() implements Eq. 11; demonstrated offline using the recorded accelerometer and magnetometer streams.</a:t>
            </a:r>
          </a:p>
          <a:p>
            <a:pPr>
              <a:spcAft>
                <a:spcPts val="700"/>
              </a:spcAft>
            </a:pPr>
            <a:r>
              <a:rPr b="1" sz="1600">
                <a:solidFill>
                  <a:srgbClr val="1F3A5F"/>
                </a:solidFill>
              </a:rPr>
              <a:t>Figure:  </a:t>
            </a:r>
            <a:r>
              <a:rPr sz="1600">
                <a:solidFill>
                  <a:srgbClr val="202020"/>
                </a:solidFill>
              </a:rPr>
              <a:t>gyro-only roll diverges (~575°) under the all-gyros attack vs stays bounded with accelerometer compensation.</a:t>
            </a:r>
          </a:p>
        </p:txBody>
      </p:sp>
      <p:pic>
        <p:nvPicPr>
          <p:cNvPr id="5" name="Picture 4" descr="fig15_allgyro_compensation.png"/>
          <p:cNvPicPr>
            <a:picLocks noChangeAspect="1"/>
          </p:cNvPicPr>
          <p:nvPr/>
        </p:nvPicPr>
        <p:blipFill>
          <a:blip r:embed="rId2"/>
          <a:stretch>
            <a:fillRect/>
          </a:stretch>
        </p:blipFill>
        <p:spPr>
          <a:xfrm>
            <a:off x="6217920" y="2778369"/>
            <a:ext cx="5760720" cy="221566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Code-to-figure mapping</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463040"/>
          <a:ext cx="11247120" cy="4754880"/>
        </p:xfrm>
        <a:graphic>
          <a:graphicData uri="http://schemas.openxmlformats.org/drawingml/2006/table">
            <a:tbl>
              <a:tblPr firstRow="1" bandRow="1">
                <a:tableStyleId>{5C22544A-7EE6-4342-B048-85BDC9FD1C3A}</a:tableStyleId>
              </a:tblPr>
              <a:tblGrid>
                <a:gridCol w="4663440"/>
                <a:gridCol w="4206240"/>
                <a:gridCol w="2377440"/>
              </a:tblGrid>
              <a:tr h="475488">
                <a:tc>
                  <a:txBody>
                    <a:bodyPr/>
                    <a:lstStyle/>
                    <a:p>
                      <a:r>
                        <a:rPr b="1" sz="1300">
                          <a:solidFill>
                            <a:srgbClr val="FFFFFF"/>
                          </a:solidFill>
                        </a:rPr>
                        <a:t>Figure</a:t>
                      </a:r>
                    </a:p>
                  </a:txBody>
                  <a:tcPr>
                    <a:solidFill>
                      <a:srgbClr val="1F3A5F"/>
                    </a:solidFill>
                  </a:tcPr>
                </a:tc>
                <a:tc>
                  <a:txBody>
                    <a:bodyPr/>
                    <a:lstStyle/>
                    <a:p>
                      <a:r>
                        <a:rPr b="1" sz="1300">
                          <a:solidFill>
                            <a:srgbClr val="FFFFFF"/>
                          </a:solidFill>
                        </a:rPr>
                        <a:t>Generating script (read-only)</a:t>
                      </a:r>
                    </a:p>
                  </a:txBody>
                  <a:tcPr>
                    <a:solidFill>
                      <a:srgbClr val="1F3A5F"/>
                    </a:solidFill>
                  </a:tcPr>
                </a:tc>
                <a:tc>
                  <a:txBody>
                    <a:bodyPr/>
                    <a:lstStyle/>
                    <a:p>
                      <a:r>
                        <a:rPr b="1" sz="1300">
                          <a:solidFill>
                            <a:srgbClr val="FFFFFF"/>
                          </a:solidFill>
                        </a:rPr>
                        <a:t>Paper figure</a:t>
                      </a:r>
                    </a:p>
                  </a:txBody>
                  <a:tcPr>
                    <a:solidFill>
                      <a:srgbClr val="1F3A5F"/>
                    </a:solidFill>
                  </a:tcPr>
                </a:tc>
              </a:tr>
              <a:tr h="475488">
                <a:tc>
                  <a:txBody>
                    <a:bodyPr/>
                    <a:lstStyle/>
                    <a:p>
                      <a:r>
                        <a:rPr sz="1100">
                          <a:solidFill>
                            <a:srgbClr val="202020"/>
                          </a:solidFill>
                        </a:rPr>
                        <a:t>Operation data overview (fig8)</a:t>
                      </a:r>
                    </a:p>
                  </a:txBody>
                  <a:tcPr/>
                </a:tc>
                <a:tc>
                  <a:txBody>
                    <a:bodyPr/>
                    <a:lstStyle/>
                    <a:p>
                      <a:r>
                        <a:rPr sz="1100">
                          <a:solidFill>
                            <a:srgbClr val="202020"/>
                          </a:solidFill>
                        </a:rPr>
                        <a:t>make_figures_paper.py</a:t>
                      </a:r>
                    </a:p>
                  </a:txBody>
                  <a:tcPr/>
                </a:tc>
                <a:tc>
                  <a:txBody>
                    <a:bodyPr/>
                    <a:lstStyle/>
                    <a:p>
                      <a:r>
                        <a:rPr sz="1100">
                          <a:solidFill>
                            <a:srgbClr val="202020"/>
                          </a:solidFill>
                        </a:rPr>
                        <a:t>§3.1 data</a:t>
                      </a:r>
                    </a:p>
                  </a:txBody>
                  <a:tcPr/>
                </a:tc>
              </a:tr>
              <a:tr h="475488">
                <a:tc>
                  <a:txBody>
                    <a:bodyPr/>
                    <a:lstStyle/>
                    <a:p>
                      <a:r>
                        <a:rPr sz="1100">
                          <a:solidFill>
                            <a:srgbClr val="202020"/>
                          </a:solidFill>
                        </a:rPr>
                        <a:t>Sensor prediction (fig3)</a:t>
                      </a:r>
                    </a:p>
                  </a:txBody>
                  <a:tcPr/>
                </a:tc>
                <a:tc>
                  <a:txBody>
                    <a:bodyPr/>
                    <a:lstStyle/>
                    <a:p>
                      <a:r>
                        <a:rPr sz="1100">
                          <a:solidFill>
                            <a:srgbClr val="202020"/>
                          </a:solidFill>
                        </a:rPr>
                        <a:t>make_figures_paper.py</a:t>
                      </a:r>
                    </a:p>
                  </a:txBody>
                  <a:tcPr/>
                </a:tc>
                <a:tc>
                  <a:txBody>
                    <a:bodyPr/>
                    <a:lstStyle/>
                    <a:p>
                      <a:r>
                        <a:rPr sz="1100">
                          <a:solidFill>
                            <a:srgbClr val="202020"/>
                          </a:solidFill>
                        </a:rPr>
                        <a:t>Fig. 11</a:t>
                      </a:r>
                    </a:p>
                  </a:txBody>
                  <a:tcPr/>
                </a:tc>
              </a:tr>
              <a:tr h="475488">
                <a:tc>
                  <a:txBody>
                    <a:bodyPr/>
                    <a:lstStyle/>
                    <a:p>
                      <a:r>
                        <a:rPr sz="1100">
                          <a:solidFill>
                            <a:srgbClr val="202020"/>
                          </a:solidFill>
                        </a:rPr>
                        <a:t>Sysid fit / model poles (fig4, fig5)</a:t>
                      </a:r>
                    </a:p>
                  </a:txBody>
                  <a:tcPr/>
                </a:tc>
                <a:tc>
                  <a:txBody>
                    <a:bodyPr/>
                    <a:lstStyle/>
                    <a:p>
                      <a:r>
                        <a:rPr sz="1100">
                          <a:solidFill>
                            <a:srgbClr val="202020"/>
                          </a:solidFill>
                        </a:rPr>
                        <a:t>make_figures_paper.py</a:t>
                      </a:r>
                    </a:p>
                  </a:txBody>
                  <a:tcPr/>
                </a:tc>
                <a:tc>
                  <a:txBody>
                    <a:bodyPr/>
                    <a:lstStyle/>
                    <a:p>
                      <a:r>
                        <a:rPr sz="1100">
                          <a:solidFill>
                            <a:srgbClr val="202020"/>
                          </a:solidFill>
                        </a:rPr>
                        <a:t>§3.1</a:t>
                      </a:r>
                    </a:p>
                  </a:txBody>
                  <a:tcPr/>
                </a:tc>
              </a:tr>
              <a:tr h="475488">
                <a:tc>
                  <a:txBody>
                    <a:bodyPr/>
                    <a:lstStyle/>
                    <a:p>
                      <a:r>
                        <a:rPr sz="1100">
                          <a:solidFill>
                            <a:srgbClr val="202020"/>
                          </a:solidFill>
                        </a:rPr>
                        <a:t>Attack → recovery (fig2)</a:t>
                      </a:r>
                    </a:p>
                  </a:txBody>
                  <a:tcPr/>
                </a:tc>
                <a:tc>
                  <a:txBody>
                    <a:bodyPr/>
                    <a:lstStyle/>
                    <a:p>
                      <a:r>
                        <a:rPr sz="1100">
                          <a:solidFill>
                            <a:srgbClr val="202020"/>
                          </a:solidFill>
                        </a:rPr>
                        <a:t>make_figures.py</a:t>
                      </a:r>
                    </a:p>
                  </a:txBody>
                  <a:tcPr/>
                </a:tc>
                <a:tc>
                  <a:txBody>
                    <a:bodyPr/>
                    <a:lstStyle/>
                    <a:p>
                      <a:r>
                        <a:rPr sz="1100">
                          <a:solidFill>
                            <a:srgbClr val="202020"/>
                          </a:solidFill>
                        </a:rPr>
                        <a:t>Fig. 5 / 15</a:t>
                      </a:r>
                    </a:p>
                  </a:txBody>
                  <a:tcPr/>
                </a:tc>
              </a:tr>
              <a:tr h="475488">
                <a:tc>
                  <a:txBody>
                    <a:bodyPr/>
                    <a:lstStyle/>
                    <a:p>
                      <a:r>
                        <a:rPr sz="1100">
                          <a:solidFill>
                            <a:srgbClr val="202020"/>
                          </a:solidFill>
                        </a:rPr>
                        <a:t>Drift correction (fig12, fig9)</a:t>
                      </a:r>
                    </a:p>
                  </a:txBody>
                  <a:tcPr/>
                </a:tc>
                <a:tc>
                  <a:txBody>
                    <a:bodyPr/>
                    <a:lstStyle/>
                    <a:p>
                      <a:r>
                        <a:rPr sz="1100">
                          <a:solidFill>
                            <a:srgbClr val="202020"/>
                          </a:solidFill>
                        </a:rPr>
                        <a:t>make_figures_paper_12_15.py / eval</a:t>
                      </a:r>
                    </a:p>
                  </a:txBody>
                  <a:tcPr/>
                </a:tc>
                <a:tc>
                  <a:txBody>
                    <a:bodyPr/>
                    <a:lstStyle/>
                    <a:p>
                      <a:r>
                        <a:rPr sz="1100">
                          <a:solidFill>
                            <a:srgbClr val="202020"/>
                          </a:solidFill>
                        </a:rPr>
                        <a:t>Fig. 12</a:t>
                      </a:r>
                    </a:p>
                  </a:txBody>
                  <a:tcPr/>
                </a:tc>
              </a:tr>
              <a:tr h="475488">
                <a:tc>
                  <a:txBody>
                    <a:bodyPr/>
                    <a:lstStyle/>
                    <a:p>
                      <a:r>
                        <a:rPr sz="1100">
                          <a:solidFill>
                            <a:srgbClr val="202020"/>
                          </a:solidFill>
                        </a:rPr>
                        <a:t>Wind compensation (fig13)</a:t>
                      </a:r>
                    </a:p>
                  </a:txBody>
                  <a:tcPr/>
                </a:tc>
                <a:tc>
                  <a:txBody>
                    <a:bodyPr/>
                    <a:lstStyle/>
                    <a:p>
                      <a:r>
                        <a:rPr sz="1100">
                          <a:solidFill>
                            <a:srgbClr val="202020"/>
                          </a:solidFill>
                        </a:rPr>
                        <a:t>make_figures_paper_12_15.py</a:t>
                      </a:r>
                    </a:p>
                  </a:txBody>
                  <a:tcPr/>
                </a:tc>
                <a:tc>
                  <a:txBody>
                    <a:bodyPr/>
                    <a:lstStyle/>
                    <a:p>
                      <a:r>
                        <a:rPr sz="1100">
                          <a:solidFill>
                            <a:srgbClr val="202020"/>
                          </a:solidFill>
                        </a:rPr>
                        <a:t>Fig. 13</a:t>
                      </a:r>
                    </a:p>
                  </a:txBody>
                  <a:tcPr/>
                </a:tc>
              </a:tr>
              <a:tr h="475488">
                <a:tc>
                  <a:txBody>
                    <a:bodyPr/>
                    <a:lstStyle/>
                    <a:p>
                      <a:r>
                        <a:rPr sz="1100">
                          <a:solidFill>
                            <a:srgbClr val="202020"/>
                          </a:solidFill>
                        </a:rPr>
                        <a:t>DTW params / FP-FN (fig6, fig14, fig10, fig7)</a:t>
                      </a:r>
                    </a:p>
                  </a:txBody>
                  <a:tcPr/>
                </a:tc>
                <a:tc>
                  <a:txBody>
                    <a:bodyPr/>
                    <a:lstStyle/>
                    <a:p>
                      <a:r>
                        <a:rPr sz="1100">
                          <a:solidFill>
                            <a:srgbClr val="202020"/>
                          </a:solidFill>
                        </a:rPr>
                        <a:t>select_parameters.py / make_figures_*</a:t>
                      </a:r>
                    </a:p>
                  </a:txBody>
                  <a:tcPr/>
                </a:tc>
                <a:tc>
                  <a:txBody>
                    <a:bodyPr/>
                    <a:lstStyle/>
                    <a:p>
                      <a:r>
                        <a:rPr sz="1100">
                          <a:solidFill>
                            <a:srgbClr val="202020"/>
                          </a:solidFill>
                        </a:rPr>
                        <a:t>Fig. 14</a:t>
                      </a:r>
                    </a:p>
                  </a:txBody>
                  <a:tcPr/>
                </a:tc>
              </a:tr>
              <a:tr h="475488">
                <a:tc>
                  <a:txBody>
                    <a:bodyPr/>
                    <a:lstStyle/>
                    <a:p>
                      <a:r>
                        <a:rPr sz="1100">
                          <a:solidFill>
                            <a:srgbClr val="202020"/>
                          </a:solidFill>
                        </a:rPr>
                        <a:t>Attack scale (fig11)</a:t>
                      </a:r>
                    </a:p>
                  </a:txBody>
                  <a:tcPr/>
                </a:tc>
                <a:tc>
                  <a:txBody>
                    <a:bodyPr/>
                    <a:lstStyle/>
                    <a:p>
                      <a:r>
                        <a:rPr sz="1100">
                          <a:solidFill>
                            <a:srgbClr val="202020"/>
                          </a:solidFill>
                        </a:rPr>
                        <a:t>make_figures_eval.py</a:t>
                      </a:r>
                    </a:p>
                  </a:txBody>
                  <a:tcPr/>
                </a:tc>
                <a:tc>
                  <a:txBody>
                    <a:bodyPr/>
                    <a:lstStyle/>
                    <a:p>
                      <a:r>
                        <a:rPr sz="1100">
                          <a:solidFill>
                            <a:srgbClr val="202020"/>
                          </a:solidFill>
                        </a:rPr>
                        <a:t>Fig. 16b</a:t>
                      </a:r>
                    </a:p>
                  </a:txBody>
                  <a:tcPr/>
                </a:tc>
              </a:tr>
              <a:tr h="475488">
                <a:tc>
                  <a:txBody>
                    <a:bodyPr/>
                    <a:lstStyle/>
                    <a:p>
                      <a:r>
                        <a:rPr sz="1100">
                          <a:solidFill>
                            <a:srgbClr val="202020"/>
                          </a:solidFill>
                        </a:rPr>
                        <a:t>All-gyros compensation (fig15)</a:t>
                      </a:r>
                    </a:p>
                  </a:txBody>
                  <a:tcPr/>
                </a:tc>
                <a:tc>
                  <a:txBody>
                    <a:bodyPr/>
                    <a:lstStyle/>
                    <a:p>
                      <a:r>
                        <a:rPr sz="1100">
                          <a:solidFill>
                            <a:srgbClr val="202020"/>
                          </a:solidFill>
                        </a:rPr>
                        <a:t>make_figures_paper_12_15.py</a:t>
                      </a:r>
                    </a:p>
                  </a:txBody>
                  <a:tcPr/>
                </a:tc>
                <a:tc>
                  <a:txBody>
                    <a:bodyPr/>
                    <a:lstStyle/>
                    <a:p>
                      <a:r>
                        <a:rPr sz="1100">
                          <a:solidFill>
                            <a:srgbClr val="202020"/>
                          </a:solidFill>
                        </a:rPr>
                        <a:t>Fig. 15</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Successfully replicated components</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b="1" sz="1600">
                <a:solidFill>
                  <a:srgbClr val="2E7D32"/>
                </a:solidFill>
              </a:rPr>
              <a:t>Ours:  </a:t>
            </a:r>
            <a:r>
              <a:rPr sz="1600">
                <a:solidFill>
                  <a:srgbClr val="202020"/>
                </a:solidFill>
              </a:rPr>
              <a:t>data pipeline — random-mission collection, spline resampling, x/u/y construction (§3.1).</a:t>
            </a:r>
          </a:p>
          <a:p>
            <a:pPr>
              <a:spcAft>
                <a:spcPts val="700"/>
              </a:spcAft>
            </a:pPr>
            <a:r>
              <a:rPr b="1" sz="1600">
                <a:solidFill>
                  <a:srgbClr val="2E7D32"/>
                </a:solidFill>
              </a:rPr>
              <a:t>Ours:  </a:t>
            </a:r>
            <a:r>
              <a:rPr sz="1600">
                <a:solidFill>
                  <a:srgbClr val="202020"/>
                </a:solidFill>
              </a:rPr>
              <a:t>system identification — per-variable 2nd-order PEM, open-loop K = 0, 12-state model (§3.1).</a:t>
            </a:r>
          </a:p>
          <a:p>
            <a:pPr>
              <a:spcAft>
                <a:spcPts val="700"/>
              </a:spcAft>
            </a:pPr>
            <a:r>
              <a:rPr b="1" sz="1600">
                <a:solidFill>
                  <a:srgbClr val="2E7D32"/>
                </a:solidFill>
              </a:rPr>
              <a:t>Ours:  </a:t>
            </a:r>
            <a:r>
              <a:rPr sz="1600">
                <a:solidFill>
                  <a:srgbClr val="202020"/>
                </a:solidFill>
              </a:rPr>
              <a:t>software sensors — Eq. 4 (accel), Eq. 5 (baro), Eq. 6 (magnetometer), frame transforms, Eq. 11 (supplementary) (§3.2 / App. A, B).</a:t>
            </a:r>
          </a:p>
          <a:p>
            <a:pPr>
              <a:spcAft>
                <a:spcPts val="700"/>
              </a:spcAft>
            </a:pPr>
            <a:r>
              <a:rPr b="1" sz="1600">
                <a:solidFill>
                  <a:srgbClr val="2E7D32"/>
                </a:solidFill>
              </a:rPr>
              <a:t>Ours:  </a:t>
            </a:r>
            <a:r>
              <a:rPr sz="1600">
                <a:solidFill>
                  <a:srgbClr val="202020"/>
                </a:solidFill>
              </a:rPr>
              <a:t>error correction (LPF, synchronization, disturbance term e) and DTW-based parameter selection (§3.3).</a:t>
            </a:r>
          </a:p>
          <a:p>
            <a:pPr>
              <a:spcAft>
                <a:spcPts val="700"/>
              </a:spcAft>
            </a:pPr>
            <a:r>
              <a:rPr b="1" sz="1600">
                <a:solidFill>
                  <a:srgbClr val="2E7D32"/>
                </a:solidFill>
              </a:rPr>
              <a:t>Ours:  </a:t>
            </a:r>
            <a:r>
              <a:rPr sz="1600">
                <a:solidFill>
                  <a:srgbClr val="202020"/>
                </a:solidFill>
              </a:rPr>
              <a:t>Algorithm 1 runtime monitor (25/25 tests) inserted at the paper’s Figure-3 point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Limitations and deviations</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b="1" sz="1600">
                <a:solidFill>
                  <a:srgbClr val="B76E00"/>
                </a:solidFill>
              </a:rPr>
              <a:t>Limitation:  </a:t>
            </a:r>
            <a:r>
              <a:rPr sz="1600">
                <a:solidFill>
                  <a:srgbClr val="202020"/>
                </a:solidFill>
              </a:rPr>
              <a:t>50 Hz instead of the paper’s 400 Hz (RAM) — the only intentional deviation; all downstream parameters are consistent at 50 Hz.</a:t>
            </a:r>
          </a:p>
          <a:p>
            <a:pPr>
              <a:spcAft>
                <a:spcPts val="700"/>
              </a:spcAft>
            </a:pPr>
            <a:r>
              <a:rPr b="1" sz="1600">
                <a:solidFill>
                  <a:srgbClr val="B76E00"/>
                </a:solidFill>
              </a:rPr>
              <a:t>Limitation:  </a:t>
            </a:r>
            <a:r>
              <a:rPr sz="1600">
                <a:solidFill>
                  <a:srgbClr val="202020"/>
                </a:solidFill>
              </a:rPr>
              <a:t>translational / altitude sub-models are under-excited by hover-dominant data, so those channels are noisier (more aggressive maneuver data would improve them).</a:t>
            </a:r>
          </a:p>
          <a:p>
            <a:pPr>
              <a:spcAft>
                <a:spcPts val="700"/>
              </a:spcAft>
            </a:pPr>
            <a:r>
              <a:rPr b="1" sz="1600">
                <a:solidFill>
                  <a:srgbClr val="B76E00"/>
                </a:solidFill>
              </a:rPr>
              <a:t>Limitation:  </a:t>
            </a:r>
            <a:r>
              <a:rPr sz="1600">
                <a:solidFill>
                  <a:srgbClr val="202020"/>
                </a:solidFill>
              </a:rPr>
              <a:t>closed-loop in-flight attack/recovery not produced — ArduCopter 3.4 SITL takes attitude from a perfect physics model and regenerates the IMU asynchronously, so a read-AHRS-level substitution (attack AND recovery, identically) is overwritten before the estimator reads it. Real hardware (the paper’s setting) would propagate it.</a:t>
            </a:r>
          </a:p>
          <a:p>
            <a:pPr>
              <a:spcAft>
                <a:spcPts val="700"/>
              </a:spcAft>
            </a:pPr>
            <a:r>
              <a:rPr sz="1600">
                <a:solidFill>
                  <a:srgbClr val="2E6DA4"/>
                </a:solidFill>
              </a:rPr>
              <a:t>•  </a:t>
            </a:r>
            <a:r>
              <a:rPr sz="1600">
                <a:solidFill>
                  <a:srgbClr val="202020"/>
                </a:solidFill>
              </a:rPr>
              <a:t>Future work: live SITL / physical-drone A/B validation; the rover and hexrotor; the multi-sensor attack matrix (Tables 3 / 4).</a:t>
            </a:r>
          </a:p>
          <a:p>
            <a:pPr>
              <a:spcAft>
                <a:spcPts val="700"/>
              </a:spcAft>
            </a:pPr>
            <a:r>
              <a:rPr b="1" sz="1600">
                <a:solidFill>
                  <a:srgbClr val="B76E00"/>
                </a:solidFill>
              </a:rPr>
              <a:t>Note:  </a:t>
            </a:r>
            <a:r>
              <a:rPr sz="1600">
                <a:solidFill>
                  <a:srgbClr val="202020"/>
                </a:solidFill>
              </a:rPr>
              <a:t>all figures are offline demonstrations on recorded data, not closed-loop flight.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Conclusion</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sz="1600">
                <a:solidFill>
                  <a:srgbClr val="2E6DA4"/>
                </a:solidFill>
              </a:rPr>
              <a:t>•  </a:t>
            </a:r>
            <a:r>
              <a:rPr sz="1600">
                <a:solidFill>
                  <a:srgbClr val="202020"/>
                </a:solidFill>
              </a:rPr>
              <a:t>We faithfully replicated the paper’s full offline + runtime procedure: data pipeline, system identification, software sensors, error correction, parameter selection, and the Algorithm 1 monitor.</a:t>
            </a:r>
          </a:p>
          <a:p>
            <a:pPr>
              <a:spcAft>
                <a:spcPts val="700"/>
              </a:spcAft>
            </a:pPr>
            <a:r>
              <a:rPr sz="1600">
                <a:solidFill>
                  <a:srgbClr val="2E6DA4"/>
                </a:solidFill>
              </a:rPr>
              <a:t>•  </a:t>
            </a:r>
            <a:r>
              <a:rPr sz="1600">
                <a:solidFill>
                  <a:srgbClr val="202020"/>
                </a:solidFill>
              </a:rPr>
              <a:t>Evidence figures reproduce the paper’s effectiveness plots (Figs. 11–16b) on recorded data and the identified model.</a:t>
            </a:r>
          </a:p>
          <a:p>
            <a:pPr>
              <a:spcAft>
                <a:spcPts val="700"/>
              </a:spcAft>
            </a:pPr>
            <a:r>
              <a:rPr sz="1600">
                <a:solidFill>
                  <a:srgbClr val="2E6DA4"/>
                </a:solidFill>
              </a:rPr>
              <a:t>•  </a:t>
            </a:r>
            <a:r>
              <a:rPr sz="1600">
                <a:solidFill>
                  <a:srgbClr val="202020"/>
                </a:solidFill>
              </a:rPr>
              <a:t>We focus on PROCEDURE replication — we do not claim identical numerical results.</a:t>
            </a:r>
          </a:p>
          <a:p>
            <a:pPr>
              <a:spcAft>
                <a:spcPts val="700"/>
              </a:spcAft>
            </a:pPr>
            <a:r>
              <a:rPr sz="1600">
                <a:solidFill>
                  <a:srgbClr val="2E6DA4"/>
                </a:solidFill>
              </a:rPr>
              <a:t>•  </a:t>
            </a:r>
            <a:r>
              <a:rPr sz="1600">
                <a:solidFill>
                  <a:srgbClr val="202020"/>
                </a:solidFill>
              </a:rPr>
              <a:t>Remaining: closed-loop live validation and additional vehicles / attack combinations (future 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4552" cy="914400"/>
          </a:xfrm>
          <a:prstGeom prst="rect">
            <a:avLst/>
          </a:prstGeom>
          <a:noFill/>
        </p:spPr>
        <p:txBody>
          <a:bodyPr wrap="square">
            <a:spAutoFit/>
          </a:bodyPr>
          <a:lstStyle/>
          <a:p>
            <a:r>
              <a:rPr sz="2800" b="1">
                <a:solidFill>
                  <a:srgbClr val="1F3A5F"/>
                </a:solidFill>
              </a:rPr>
              <a:t>Backup: equations and parameter definitions</a:t>
            </a:r>
          </a:p>
        </p:txBody>
      </p:sp>
      <p:sp>
        <p:nvSpPr>
          <p:cNvPr id="3" name="Rectangle 2"/>
          <p:cNvSpPr/>
          <p:nvPr/>
        </p:nvSpPr>
        <p:spPr>
          <a:xfrm>
            <a:off x="457200" y="1051560"/>
            <a:ext cx="11274552"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5029200"/>
          </a:xfrm>
          <a:prstGeom prst="rect">
            <a:avLst/>
          </a:prstGeom>
          <a:noFill/>
        </p:spPr>
        <p:txBody>
          <a:bodyPr wrap="square">
            <a:spAutoFit/>
          </a:bodyPr>
          <a:lstStyle/>
          <a:p>
            <a:pPr>
              <a:spcAft>
                <a:spcPts val="700"/>
              </a:spcAft>
            </a:pPr>
            <a:r>
              <a:rPr sz="1600">
                <a:solidFill>
                  <a:srgbClr val="2E6DA4"/>
                </a:solidFill>
              </a:rPr>
              <a:t>•  </a:t>
            </a:r>
            <a:r>
              <a:rPr sz="1600">
                <a:solidFill>
                  <a:srgbClr val="202020"/>
                </a:solidFill>
              </a:rPr>
              <a:t>State / output:  xₖ₊₁ = A xₖ + B uₖ ;  yₖ = C xₖ + D uₖ.</a:t>
            </a:r>
          </a:p>
          <a:p>
            <a:pPr>
              <a:spcAft>
                <a:spcPts val="700"/>
              </a:spcAft>
            </a:pPr>
            <a:r>
              <a:rPr sz="1600">
                <a:solidFill>
                  <a:srgbClr val="2E6DA4"/>
                </a:solidFill>
              </a:rPr>
              <a:t>•  </a:t>
            </a:r>
            <a:r>
              <a:rPr sz="1600">
                <a:solidFill>
                  <a:srgbClr val="202020"/>
                </a:solidFill>
              </a:rPr>
              <a:t>Residual / detection:  rₖ = rₖ + |mₖ − msₖ| ;  recover if  r &gt; T_on ;  exit if  r &lt; T_off  for K consecutive counts.</a:t>
            </a:r>
          </a:p>
          <a:p>
            <a:pPr>
              <a:spcAft>
                <a:spcPts val="700"/>
              </a:spcAft>
            </a:pPr>
            <a:r>
              <a:rPr sz="1600">
                <a:solidFill>
                  <a:srgbClr val="2E6DA4"/>
                </a:solidFill>
              </a:rPr>
              <a:t>•  </a:t>
            </a:r>
            <a:r>
              <a:rPr sz="1600">
                <a:solidFill>
                  <a:srgbClr val="202020"/>
                </a:solidFill>
              </a:rPr>
              <a:t>Conversions:  accelerometer Eq. (4) ;  barometer Eq. (5) ;  magnetometer heading Eq. (6) ;  supplementary attitude Eq. (11).</a:t>
            </a:r>
          </a:p>
          <a:p>
            <a:pPr>
              <a:spcAft>
                <a:spcPts val="700"/>
              </a:spcAft>
            </a:pPr>
            <a:r>
              <a:rPr sz="1600">
                <a:solidFill>
                  <a:srgbClr val="2E6DA4"/>
                </a:solidFill>
              </a:rPr>
              <a:t>•  </a:t>
            </a:r>
            <a:r>
              <a:rPr sz="1600">
                <a:solidFill>
                  <a:srgbClr val="202020"/>
                </a:solidFill>
              </a:rPr>
              <a:t>Parameters:  N = window size (DTW) ;  T_on / T_off = recovery thresholds ;  K = safe-count for switch-back ;  margin in T = e_max + margin.</a:t>
            </a:r>
          </a:p>
          <a:p>
            <a:pPr>
              <a:spcAft>
                <a:spcPts val="700"/>
              </a:spcAft>
            </a:pPr>
            <a:r>
              <a:rPr sz="1600">
                <a:solidFill>
                  <a:srgbClr val="2E6DA4"/>
                </a:solidFill>
              </a:rPr>
              <a:t>•  </a:t>
            </a:r>
            <a:r>
              <a:rPr sz="1600">
                <a:solidFill>
                  <a:srgbClr val="202020"/>
                </a:solidFill>
              </a:rPr>
              <a:t>Rate:  50 Hz (Ts = 0.02 s) — the sanctioned deviation from the paper’s 400 Hz.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